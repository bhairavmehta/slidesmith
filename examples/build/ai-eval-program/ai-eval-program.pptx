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Resolution score</c:v>
                </c:pt>
              </c:strCache>
            </c:strRef>
          </c:tx>
          <c:spPr>
            <a:solidFill>
              <a:srgbClr val="2C5A8C"/>
            </a:solidFill>
          </c:spPr>
          <c:dPt>
            <c:idx val="0"/>
            <c:spPr>
              <a:solidFill>
                <a:srgbClr val="E0663A"/>
              </a:solidFill>
            </c:spPr>
          </c:dPt>
          <c:dPt>
            <c:idx val="1"/>
            <c:spPr>
              <a:solidFill>
                <a:srgbClr val="C8CED6"/>
              </a:solidFill>
            </c:spPr>
          </c:dPt>
          <c:dPt>
            <c:idx val="2"/>
            <c:spPr>
              <a:solidFill>
                <a:srgbClr val="C8CED6"/>
              </a:solidFill>
            </c:spPr>
          </c:dPt>
          <c:dPt>
            <c:idx val="3"/>
            <c:spPr>
              <a:solidFill>
                <a:srgbClr val="C8CED6"/>
              </a:solidFill>
            </c:spPr>
          </c:dPt>
          <c:dPt>
            <c:idx val="4"/>
            <c:spPr>
              <a:solidFill>
                <a:srgbClr val="C8CED6"/>
              </a:solidFill>
            </c:spPr>
          </c:dPt>
          <c:dPt>
            <c:idx val="5"/>
            <c:spPr>
              <a:solidFill>
                <a:srgbClr val="C8CED6"/>
              </a:solidFill>
            </c:spPr>
          </c:dPt>
          <c:cat>
            <c:strRef>
              <c:f>Sheet1!$A$2:$A$7</c:f>
              <c:strCache>
                <c:ptCount val="6"/>
                <c:pt idx="0">
                  <c:v>Billing</c:v>
                </c:pt>
                <c:pt idx="1">
                  <c:v>Device support</c:v>
                </c:pt>
                <c:pt idx="2">
                  <c:v>Plan changes</c:v>
                </c:pt>
                <c:pt idx="3">
                  <c:v>Network issues</c:v>
                </c:pt>
                <c:pt idx="4">
                  <c:v>Account access</c:v>
                </c:pt>
                <c:pt idx="5">
                  <c:v>Orders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0.61</c:v>
                </c:pt>
                <c:pt idx="1">
                  <c:v>0.74</c:v>
                </c:pt>
                <c:pt idx="2">
                  <c:v>0.78</c:v>
                </c:pt>
                <c:pt idx="3">
                  <c:v>0.81</c:v>
                </c:pt>
                <c:pt idx="4">
                  <c:v>0.83</c:v>
                </c:pt>
                <c:pt idx="5">
                  <c:v>0.88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300" b="1">
                  <a:solidFill>
                    <a:srgbClr val="1720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DE2E8"/>
            </a:solidFill>
          </a:ln>
        </c:spPr>
        <c:txPr>
          <a:bodyPr/>
          <a:lstStyle/>
          <a:p>
            <a:pPr>
              <a:defRPr sz="1300">
                <a:solidFill>
                  <a:srgbClr val="17202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5E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Unsupported claims</c:v>
                </c:pt>
              </c:strCache>
            </c:strRef>
          </c:tx>
          <c:spPr>
            <a:ln w="38100">
              <a:solidFill>
                <a:srgbClr val="2C5A8C"/>
              </a:solidFill>
            </a:ln>
          </c:spPr>
          <c:marker>
            <c:symbol val="circle"/>
            <c:size val="8"/>
            <c:spPr>
              <a:solidFill>
                <a:srgbClr val="2C5A8C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Sheet1!$B$2:$B$7</c:f>
              <c:numCache>
                <c:formatCode>0.0%</c:formatCode>
                <c:ptCount val="6"/>
                <c:pt idx="0">
                  <c:v>0.072</c:v>
                </c:pt>
                <c:pt idx="1">
                  <c:v>0.065</c:v>
                </c:pt>
                <c:pt idx="2">
                  <c:v>0.051</c:v>
                </c:pt>
                <c:pt idx="3">
                  <c:v>0.038</c:v>
                </c:pt>
                <c:pt idx="4">
                  <c:v>0.029</c:v>
                </c:pt>
                <c:pt idx="5">
                  <c:v>0.024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Policy violations</c:v>
                </c:pt>
              </c:strCache>
            </c:strRef>
          </c:tx>
          <c:spPr>
            <a:ln w="38100">
              <a:solidFill>
                <a:srgbClr val="E0663A"/>
              </a:solidFill>
            </a:ln>
          </c:spPr>
          <c:marker>
            <c:symbol val="circle"/>
            <c:size val="8"/>
            <c:spPr>
              <a:solidFill>
                <a:srgbClr val="E0663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</c:strCache>
            </c:strRef>
          </c:cat>
          <c:val>
            <c:numRef>
              <c:f>Sheet1!$C$2:$C$7</c:f>
              <c:numCache>
                <c:formatCode>0.0%</c:formatCode>
                <c:ptCount val="6"/>
                <c:pt idx="0">
                  <c:v>0.031</c:v>
                </c:pt>
                <c:pt idx="1">
                  <c:v>0.03</c:v>
                </c:pt>
                <c:pt idx="2">
                  <c:v>0.026</c:v>
                </c:pt>
                <c:pt idx="3">
                  <c:v>0.022</c:v>
                </c:pt>
                <c:pt idx="4">
                  <c:v>0.018</c:v>
                </c:pt>
                <c:pt idx="5">
                  <c:v>0.015</c:v>
                </c:pt>
              </c:numCache>
            </c:numRef>
          </c:val>
          <c:smooth val="0"/>
        </c:ser>
        <c:dLbls>
          <c:numFmt formatCode="0.0%" sourceLinked="0"/>
          <c:txPr>
            <a:bodyPr/>
            <a:lstStyle/>
            <a:p>
              <a:pPr>
                <a:defRPr sz="1300" b="1">
                  <a:solidFill>
                    <a:srgbClr val="17202B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DDE2E8"/>
            </a:solidFill>
          </a:ln>
        </c:spPr>
        <c:txPr>
          <a:bodyPr/>
          <a:lstStyle/>
          <a:p>
            <a:pPr>
              <a:defRPr sz="1300">
                <a:solidFill>
                  <a:srgbClr val="17202B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DE2E8"/>
              </a:solidFill>
            </a:ln>
          </c:spPr>
        </c:majorGridlines>
        <c:numFmt formatCode="0.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300">
              <a:solidFill>
                <a:srgbClr val="17202B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300">
          <a:solidFill>
            <a:srgbClr val="5E6B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9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57055" y="0"/>
            <a:ext cx="2834640" cy="6858000"/>
          </a:xfrm>
          <a:prstGeom prst="rect">
            <a:avLst/>
          </a:prstGeom>
          <a:solidFill>
            <a:srgbClr val="25385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357055" y="5394960"/>
            <a:ext cx="2834640" cy="54864"/>
          </a:xfrm>
          <a:prstGeom prst="rect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793973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E0663A"/>
                </a:solidFill>
                <a:latin typeface="Calibri"/>
              </a:rPr>
              <a:t>PROGRAM REVIEW · Q4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39"/>
            <a:ext cx="822960" cy="54864"/>
          </a:xfrm>
          <a:prstGeom prst="rect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2697479"/>
            <a:ext cx="7939735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Scaling LLM evaluation from one channel to every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45863"/>
            <a:ext cx="7939735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C4CAD2"/>
                </a:solidFill>
                <a:latin typeface="Calibri"/>
              </a:rPr>
              <a:t>Automated judging now covers 86% of production traffic. Here is what it found, and what we need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793973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ADB4C0"/>
                </a:solidFill>
                <a:latin typeface="Calibri"/>
              </a:rPr>
              <a:t>AI Engineering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384048" cy="50292"/>
          </a:xfrm>
          <a:prstGeom prst="rect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202B"/>
                </a:solidFill>
                <a:latin typeface="Calibri"/>
              </a:rPr>
              <a:t>Automated evaluation now covers most production traffic at a fraction of the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0885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E6B7A"/>
                </a:solidFill>
                <a:latin typeface="Calibri"/>
              </a:rPr>
              <a:t>Illustrative example ·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5E6B7A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3484778" cy="24688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3484778" cy="64008"/>
          </a:xfrm>
          <a:prstGeom prst="rect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93613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7202B"/>
                </a:solidFill>
                <a:latin typeface="Calibri"/>
              </a:rPr>
              <a:t>86%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293613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E6B7A"/>
                </a:solidFill>
                <a:latin typeface="Calibri"/>
              </a:rPr>
              <a:t>of production conversations scored daily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293613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8A5F"/>
                </a:solidFill>
                <a:latin typeface="Calibri"/>
              </a:rPr>
              <a:t>+61 pts since Q1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3458" y="1828800"/>
            <a:ext cx="3484778" cy="24688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53458" y="1828800"/>
            <a:ext cx="3484778" cy="64008"/>
          </a:xfrm>
          <a:prstGeom prst="rect">
            <a:avLst/>
          </a:prstGeom>
          <a:solidFill>
            <a:srgbClr val="1529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27778" y="2194560"/>
            <a:ext cx="293613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7202B"/>
                </a:solidFill>
                <a:latin typeface="Calibri"/>
              </a:rPr>
              <a:t>0.82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3063240"/>
            <a:ext cx="293613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E6B7A"/>
                </a:solidFill>
                <a:latin typeface="Calibri"/>
              </a:rPr>
              <a:t>agreement with expert human raters (Cohen's κ)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3794760"/>
            <a:ext cx="293613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8A5F"/>
                </a:solidFill>
                <a:latin typeface="Calibri"/>
              </a:rPr>
              <a:t>+0.09 vs. Q2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2556" y="1828800"/>
            <a:ext cx="3484778" cy="24688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112556" y="1828800"/>
            <a:ext cx="3484778" cy="64008"/>
          </a:xfrm>
          <a:prstGeom prst="rect">
            <a:avLst/>
          </a:prstGeom>
          <a:solidFill>
            <a:srgbClr val="1529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86876" y="2194560"/>
            <a:ext cx="293613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7202B"/>
                </a:solidFill>
                <a:latin typeface="Calibri"/>
              </a:rPr>
              <a:t>$0.004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6876" y="3063240"/>
            <a:ext cx="293613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E6B7A"/>
                </a:solidFill>
                <a:latin typeface="Calibri"/>
              </a:rPr>
              <a:t>cost per evaluated conversation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6876" y="3794760"/>
            <a:ext cx="293613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E8A5F"/>
                </a:solidFill>
                <a:latin typeface="Calibri"/>
              </a:rPr>
              <a:t>-71% vs. manual QA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4709160"/>
            <a:ext cx="11002975" cy="73152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94360" y="4709160"/>
            <a:ext cx="73152" cy="731520"/>
          </a:xfrm>
          <a:prstGeom prst="rect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1045433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7202B"/>
                </a:solidFill>
                <a:latin typeface="Calibri"/>
              </a:rPr>
              <a:t>The judge is now trusted enough to gate releases, not just report on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43000" y="2103120"/>
            <a:ext cx="990569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7200" b="1" i="0">
                <a:solidFill>
                  <a:srgbClr val="E0663A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227831"/>
            <a:ext cx="9905695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7202B"/>
                </a:solidFill>
                <a:latin typeface="Calibri"/>
              </a:rPr>
              <a:t>What the judge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035551"/>
            <a:ext cx="990569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5E6B7A"/>
                </a:solidFill>
                <a:latin typeface="Calibri"/>
              </a:rPr>
              <a:t>Quality signals from six channels over the last 90 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384048" cy="50292"/>
          </a:xfrm>
          <a:prstGeom prst="rect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202B"/>
                </a:solidFill>
                <a:latin typeface="Calibri"/>
              </a:rPr>
              <a:t>Resolution quality varies most in billing, where fixes would pay back fastest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0885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E6B7A"/>
                </a:solidFill>
                <a:latin typeface="Calibri"/>
              </a:rPr>
              <a:t>Illustrative example ·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5E6B7A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8488375" y="1783080"/>
            <a:ext cx="3108960" cy="54864"/>
          </a:xfrm>
          <a:prstGeom prst="rect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88375" y="2057400"/>
            <a:ext cx="3108960" cy="365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17202B"/>
                </a:solidFill>
                <a:latin typeface="Calibri"/>
              </a:rPr>
              <a:t>Billing scores 0.61 — 13 points below the next-worst channel. Most failures trace to stale policy content in retrieval.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691640"/>
          <a:ext cx="7482535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897880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E6B7A"/>
                </a:solidFill>
                <a:latin typeface="Calibri"/>
              </a:rPr>
              <a:t>Source: Judge scores, Jul–Sep 2026 (illustrative)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384048" cy="50292"/>
          </a:xfrm>
          <a:prstGeom prst="rect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202B"/>
                </a:solidFill>
                <a:latin typeface="Calibri"/>
              </a:rPr>
              <a:t>Hallucination rate fell by two-thirds after retrieval and prompt fixes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0885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E6B7A"/>
                </a:solidFill>
                <a:latin typeface="Calibri"/>
              </a:rPr>
              <a:t>Illustrative example ·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5E6B7A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94360" y="1691640"/>
          <a:ext cx="11002975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97880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E6B7A"/>
                </a:solidFill>
                <a:latin typeface="Calibri"/>
              </a:rPr>
              <a:t>Source: Share of judged conversations flagged (illustrative)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384048" cy="50292"/>
          </a:xfrm>
          <a:prstGeom prst="rect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202B"/>
                </a:solidFill>
                <a:latin typeface="Calibri"/>
              </a:rPr>
              <a:t>Release gating would have stopped three regressions before customers saw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0885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E6B7A"/>
                </a:solidFill>
                <a:latin typeface="Calibri"/>
              </a:rPr>
              <a:t>Illustrative example ·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5E6B7A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5721547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11000" b="1" i="0">
                <a:solidFill>
                  <a:srgbClr val="E0663A"/>
                </a:solidFill>
                <a:latin typeface="Calibri"/>
              </a:rPr>
              <a:t>3 of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03320"/>
            <a:ext cx="5447227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7202B"/>
                </a:solidFill>
                <a:latin typeface="Calibri"/>
              </a:rPr>
              <a:t>Q3 regressions caught in replay before rollout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773107" y="2057400"/>
            <a:ext cx="45720" cy="3703320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8867" y="2057400"/>
            <a:ext cx="4458468" cy="3703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5E6B7A"/>
                </a:solidFill>
                <a:latin typeface="Calibri"/>
              </a:rPr>
              <a:t>We replayed every Q3 release against the judge. Each regression that reached customers would have failed the gate on at least two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384048" cy="50292"/>
          </a:xfrm>
          <a:prstGeom prst="rect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202B"/>
                </a:solidFill>
                <a:latin typeface="Calibri"/>
              </a:rPr>
              <a:t>Moving from sampled manual QA to continuous automated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0885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E6B7A"/>
                </a:solidFill>
                <a:latin typeface="Calibri"/>
              </a:rPr>
              <a:t>Illustrative example ·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5E6B7A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91640"/>
            <a:ext cx="5181447" cy="27660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691640"/>
            <a:ext cx="5181447" cy="64008"/>
          </a:xfrm>
          <a:prstGeom prst="rect">
            <a:avLst/>
          </a:prstGeom>
          <a:solidFill>
            <a:srgbClr val="5E6B7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454136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7202B"/>
                </a:solidFill>
                <a:latin typeface="Calibri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60904"/>
            <a:ext cx="4541367" cy="1522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310896" indent="-274320">
              <a:lnSpc>
                <a:spcPct val="110000"/>
              </a:lnSpc>
              <a:buClr>
                <a:srgbClr val="E0663A"/>
              </a:buClr>
              <a:buSzPct val="100000"/>
              <a:buFont typeface="Arial"/>
              <a:buChar char="•"/>
            </a:pPr>
            <a:r>
              <a:rPr sz="1800" b="0" i="0">
                <a:solidFill>
                  <a:srgbClr val="17202B"/>
                </a:solidFill>
                <a:latin typeface="Calibri"/>
              </a:rPr>
              <a:t>2% of conversations sampled by hand</a:t>
            </a:r>
          </a:p>
          <a:p>
            <a:pPr algn="l" marL="310896" indent="-274320">
              <a:lnSpc>
                <a:spcPct val="110000"/>
              </a:lnSpc>
              <a:spcBef>
                <a:spcPts val="990"/>
              </a:spcBef>
              <a:buClr>
                <a:srgbClr val="E0663A"/>
              </a:buClr>
              <a:buSzPct val="100000"/>
              <a:buFont typeface="Arial"/>
              <a:buChar char="•"/>
            </a:pPr>
            <a:r>
              <a:rPr sz="1800" b="0" i="0">
                <a:solidFill>
                  <a:srgbClr val="17202B"/>
                </a:solidFill>
                <a:latin typeface="Calibri"/>
              </a:rPr>
              <a:t>Findings arrive two weeks late</a:t>
            </a:r>
          </a:p>
          <a:p>
            <a:pPr algn="l" marL="310896" indent="-274320">
              <a:lnSpc>
                <a:spcPct val="110000"/>
              </a:lnSpc>
              <a:spcBef>
                <a:spcPts val="990"/>
              </a:spcBef>
              <a:buClr>
                <a:srgbClr val="E0663A"/>
              </a:buClr>
              <a:buSzPct val="100000"/>
              <a:buFont typeface="Arial"/>
              <a:buChar char="•"/>
            </a:pPr>
            <a:r>
              <a:rPr sz="1800" b="0" i="0">
                <a:solidFill>
                  <a:srgbClr val="17202B"/>
                </a:solidFill>
                <a:latin typeface="Calibri"/>
              </a:rPr>
              <a:t>No signal at release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5887" y="1691640"/>
            <a:ext cx="5181447" cy="27660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15887" y="1691640"/>
            <a:ext cx="5181447" cy="64008"/>
          </a:xfrm>
          <a:prstGeom prst="rect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735927" y="1984248"/>
            <a:ext cx="4541367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7202B"/>
                </a:solidFill>
                <a:latin typeface="Calibri"/>
              </a:rPr>
              <a:t>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2660904"/>
            <a:ext cx="4541367" cy="1522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310896" indent="-274320">
              <a:lnSpc>
                <a:spcPct val="110000"/>
              </a:lnSpc>
              <a:buClr>
                <a:srgbClr val="E0663A"/>
              </a:buClr>
              <a:buSzPct val="100000"/>
              <a:buFont typeface="Arial"/>
              <a:buChar char="•"/>
            </a:pPr>
            <a:r>
              <a:rPr sz="1800" b="0" i="0">
                <a:solidFill>
                  <a:srgbClr val="17202B"/>
                </a:solidFill>
                <a:latin typeface="Calibri"/>
              </a:rPr>
              <a:t>86% scored automatically every day</a:t>
            </a:r>
          </a:p>
          <a:p>
            <a:pPr algn="l" marL="310896" indent="-274320">
              <a:lnSpc>
                <a:spcPct val="110000"/>
              </a:lnSpc>
              <a:spcBef>
                <a:spcPts val="990"/>
              </a:spcBef>
              <a:buClr>
                <a:srgbClr val="E0663A"/>
              </a:buClr>
              <a:buSzPct val="100000"/>
              <a:buFont typeface="Arial"/>
              <a:buChar char="•"/>
            </a:pPr>
            <a:r>
              <a:rPr sz="1800" b="0" i="0">
                <a:solidFill>
                  <a:srgbClr val="17202B"/>
                </a:solidFill>
                <a:latin typeface="Calibri"/>
              </a:rPr>
              <a:t>Dashboards refresh hourly</a:t>
            </a:r>
          </a:p>
          <a:p>
            <a:pPr algn="l" marL="310896" indent="-274320">
              <a:lnSpc>
                <a:spcPct val="110000"/>
              </a:lnSpc>
              <a:spcBef>
                <a:spcPts val="990"/>
              </a:spcBef>
              <a:buClr>
                <a:srgbClr val="E0663A"/>
              </a:buClr>
              <a:buSzPct val="100000"/>
              <a:buFont typeface="Arial"/>
              <a:buChar char="•"/>
            </a:pPr>
            <a:r>
              <a:rPr sz="1800" b="0" i="0">
                <a:solidFill>
                  <a:srgbClr val="17202B"/>
                </a:solidFill>
                <a:latin typeface="Calibri"/>
              </a:rPr>
              <a:t>Releases gated on judge metrics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76391" y="2855214"/>
            <a:ext cx="438912" cy="438912"/>
          </a:xfrm>
          <a:prstGeom prst="rightArrow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384048" cy="50292"/>
          </a:xfrm>
          <a:prstGeom prst="rect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202B"/>
                </a:solidFill>
                <a:latin typeface="Calibri"/>
              </a:rPr>
              <a:t>Every channel clears the agreement bar; billing and device support need rubric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0885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E6B7A"/>
                </a:solidFill>
                <a:latin typeface="Calibri"/>
              </a:rPr>
              <a:t>Illustrative example ·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5E6B7A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691640"/>
          <a:ext cx="11002971" cy="298704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481921"/>
                <a:gridCol w="1631208"/>
                <a:gridCol w="2347737"/>
                <a:gridCol w="1928377"/>
                <a:gridCol w="2613728"/>
              </a:tblGrid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5E6B7A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marL="109728" marR="109728" marT="64008" marB="64008" anchor="ctr">
                    <a:lnB w="15875" cap="flat" cmpd="sng" algn="ctr">
                      <a:solidFill>
                        <a:srgbClr val="152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 i="0">
                          <a:solidFill>
                            <a:srgbClr val="5E6B7A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 marL="109728" marR="109728" marT="64008" marB="64008" anchor="ctr">
                    <a:lnB w="15875" cap="flat" cmpd="sng" algn="ctr">
                      <a:solidFill>
                        <a:srgbClr val="152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 i="0">
                          <a:solidFill>
                            <a:srgbClr val="5E6B7A"/>
                          </a:solidFill>
                          <a:latin typeface="Calibri"/>
                        </a:rPr>
                        <a:t>Judge–human κ</a:t>
                      </a:r>
                    </a:p>
                  </a:txBody>
                  <a:tcPr marL="109728" marR="109728" marT="64008" marB="64008" anchor="ctr">
                    <a:lnB w="15875" cap="flat" cmpd="sng" algn="ctr">
                      <a:solidFill>
                        <a:srgbClr val="152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 i="0">
                          <a:solidFill>
                            <a:srgbClr val="5E6B7A"/>
                          </a:solidFill>
                          <a:latin typeface="Calibri"/>
                        </a:rPr>
                        <a:t>Resolution</a:t>
                      </a:r>
                    </a:p>
                  </a:txBody>
                  <a:tcPr marL="109728" marR="109728" marT="64008" marB="64008" anchor="ctr">
                    <a:lnB w="15875" cap="flat" cmpd="sng" algn="ctr">
                      <a:solidFill>
                        <a:srgbClr val="152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5E6B7A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109728" marR="109728" marT="64008" marB="64008" anchor="ctr">
                    <a:lnB w="15875" cap="flat" cmpd="sng" algn="ctr">
                      <a:solidFill>
                        <a:srgbClr val="15294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7202B"/>
                          </a:solidFill>
                          <a:latin typeface="Calibri"/>
                        </a:rPr>
                        <a:t>Billing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BEA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7202B"/>
                          </a:solidFill>
                          <a:latin typeface="Calibri"/>
                        </a:rPr>
                        <a:t>91%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BEA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7202B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BEA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1" i="0">
                          <a:solidFill>
                            <a:srgbClr val="17202B"/>
                          </a:solidFill>
                          <a:latin typeface="Calibri"/>
                        </a:rPr>
                        <a:t>0.61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BEA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7202B"/>
                          </a:solidFill>
                          <a:latin typeface="Calibri"/>
                        </a:rPr>
                        <a:t>Rubric revision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BEAE3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7202B"/>
                          </a:solidFill>
                          <a:latin typeface="Calibri"/>
                        </a:rPr>
                        <a:t>Device support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Rubric revision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7202B"/>
                          </a:solidFill>
                          <a:latin typeface="Calibri"/>
                        </a:rPr>
                        <a:t>Plan changes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Gating live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7202B"/>
                          </a:solidFill>
                          <a:latin typeface="Calibri"/>
                        </a:rPr>
                        <a:t>Network issues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Gating live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7202B"/>
                          </a:solidFill>
                          <a:latin typeface="Calibri"/>
                        </a:rPr>
                        <a:t>Account access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Gating live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7202B"/>
                          </a:solidFill>
                          <a:latin typeface="Calibri"/>
                        </a:rPr>
                        <a:t>Orders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79%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7202B"/>
                          </a:solidFill>
                          <a:latin typeface="Calibri"/>
                        </a:rPr>
                        <a:t>Gating live</a:t>
                      </a:r>
                    </a:p>
                  </a:txBody>
                  <a:tcPr marL="109728" marR="109728" marT="64008" marB="64008" anchor="ctr">
                    <a:lnB w="9525" cap="flat" cmpd="sng" algn="ctr">
                      <a:solidFill>
                        <a:srgbClr val="DD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97880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E6B7A"/>
                </a:solidFill>
                <a:latin typeface="Calibri"/>
              </a:rPr>
              <a:t>Source: Illustrative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43000" y="2103120"/>
            <a:ext cx="9905695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sz="7200" b="1" i="0">
                <a:solidFill>
                  <a:srgbClr val="E0663A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227831"/>
            <a:ext cx="9905695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7202B"/>
                </a:solidFill>
                <a:latin typeface="Calibri"/>
              </a:rPr>
              <a:t>What we need next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384048" cy="50292"/>
          </a:xfrm>
          <a:prstGeom prst="rect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202B"/>
                </a:solidFill>
                <a:latin typeface="Calibri"/>
              </a:rPr>
              <a:t>Three investments turn evaluation into a release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0885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E6B7A"/>
                </a:solidFill>
                <a:latin typeface="Calibri"/>
              </a:rPr>
              <a:t>Illustrative example ·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5E6B7A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5394960"/>
            <a:ext cx="11002975" cy="73152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5394960"/>
            <a:ext cx="73152" cy="731520"/>
          </a:xfrm>
          <a:prstGeom prst="rect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45433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7202B"/>
                </a:solidFill>
                <a:latin typeface="Calibri"/>
              </a:rPr>
              <a:t>Ask: approve two engineers for Q1 and the January gating policy.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9462558" cy="3474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310896" indent="-274320">
              <a:lnSpc>
                <a:spcPct val="110000"/>
              </a:lnSpc>
              <a:buClr>
                <a:srgbClr val="E0663A"/>
              </a:buClr>
              <a:buSzPct val="100000"/>
              <a:buFont typeface="Arial"/>
              <a:buChar char="•"/>
            </a:pPr>
            <a:r>
              <a:rPr sz="2000" b="1" i="0">
                <a:solidFill>
                  <a:srgbClr val="17202B"/>
                </a:solidFill>
                <a:latin typeface="Calibri"/>
              </a:rPr>
              <a:t>Fix billing retrieval</a:t>
            </a:r>
            <a:r>
              <a:rPr sz="2000" b="0" i="0">
                <a:solidFill>
                  <a:srgbClr val="17202B"/>
                </a:solidFill>
                <a:latin typeface="Calibri"/>
              </a:rPr>
              <a:t> before adding more judge coverage</a:t>
            </a:r>
          </a:p>
          <a:p>
            <a:pPr algn="l" marL="621792" indent="-237744">
              <a:lnSpc>
                <a:spcPct val="110000"/>
              </a:lnSpc>
              <a:spcBef>
                <a:spcPts val="400"/>
              </a:spcBef>
              <a:buClr>
                <a:srgbClr val="5E6B7A"/>
              </a:buClr>
              <a:buSzPct val="100000"/>
              <a:buFont typeface="Arial"/>
              <a:buChar char="–"/>
            </a:pPr>
            <a:r>
              <a:rPr sz="1639" b="0" i="0">
                <a:solidFill>
                  <a:srgbClr val="5E6B7A"/>
                </a:solidFill>
                <a:latin typeface="Calibri"/>
              </a:rPr>
              <a:t>Refresh policy corpus weekly</a:t>
            </a:r>
          </a:p>
          <a:p>
            <a:pPr algn="l" marL="621792" indent="-237744">
              <a:lnSpc>
                <a:spcPct val="110000"/>
              </a:lnSpc>
              <a:spcBef>
                <a:spcPts val="400"/>
              </a:spcBef>
              <a:buClr>
                <a:srgbClr val="5E6B7A"/>
              </a:buClr>
              <a:buSzPct val="100000"/>
              <a:buFont typeface="Arial"/>
              <a:buChar char="–"/>
            </a:pPr>
            <a:r>
              <a:rPr sz="1639" b="0" i="0">
                <a:solidFill>
                  <a:srgbClr val="5E6B7A"/>
                </a:solidFill>
                <a:latin typeface="Calibri"/>
              </a:rPr>
              <a:t>Add citation-required prompting</a:t>
            </a:r>
          </a:p>
          <a:p>
            <a:pPr algn="l" marL="310896" indent="-274320">
              <a:lnSpc>
                <a:spcPct val="110000"/>
              </a:lnSpc>
              <a:spcBef>
                <a:spcPts val="1100"/>
              </a:spcBef>
              <a:buClr>
                <a:srgbClr val="E0663A"/>
              </a:buClr>
              <a:buSzPct val="100000"/>
              <a:buFont typeface="Arial"/>
              <a:buChar char="•"/>
            </a:pPr>
            <a:r>
              <a:rPr sz="2000" b="1" i="0">
                <a:solidFill>
                  <a:srgbClr val="17202B"/>
                </a:solidFill>
                <a:latin typeface="Calibri"/>
              </a:rPr>
              <a:t>Calibrate judge scores</a:t>
            </a:r>
            <a:r>
              <a:rPr sz="2000" b="0" i="0">
                <a:solidFill>
                  <a:srgbClr val="17202B"/>
                </a:solidFill>
                <a:latin typeface="Calibri"/>
              </a:rPr>
              <a:t> so thresholds mean the same thing on every channel</a:t>
            </a:r>
          </a:p>
          <a:p>
            <a:pPr algn="l" marL="621792" indent="-237744">
              <a:lnSpc>
                <a:spcPct val="110000"/>
              </a:lnSpc>
              <a:spcBef>
                <a:spcPts val="400"/>
              </a:spcBef>
              <a:buClr>
                <a:srgbClr val="5E6B7A"/>
              </a:buClr>
              <a:buSzPct val="100000"/>
              <a:buFont typeface="Arial"/>
              <a:buChar char="–"/>
            </a:pPr>
            <a:r>
              <a:rPr sz="1639" b="0" i="0">
                <a:solidFill>
                  <a:srgbClr val="5E6B7A"/>
                </a:solidFill>
                <a:latin typeface="Calibri"/>
              </a:rPr>
              <a:t>Platt scaling per channel against expert labels</a:t>
            </a:r>
          </a:p>
          <a:p>
            <a:pPr algn="l" marL="310896" indent="-274320">
              <a:lnSpc>
                <a:spcPct val="110000"/>
              </a:lnSpc>
              <a:spcBef>
                <a:spcPts val="1100"/>
              </a:spcBef>
              <a:buClr>
                <a:srgbClr val="E0663A"/>
              </a:buClr>
              <a:buSzPct val="100000"/>
              <a:buFont typeface="Arial"/>
              <a:buChar char="•"/>
            </a:pPr>
            <a:r>
              <a:rPr sz="2000" b="1" i="0">
                <a:solidFill>
                  <a:srgbClr val="17202B"/>
                </a:solidFill>
                <a:latin typeface="Calibri"/>
              </a:rPr>
              <a:t>Make the gate mandatory</a:t>
            </a:r>
            <a:r>
              <a:rPr sz="2000" b="0" i="0">
                <a:solidFill>
                  <a:srgbClr val="17202B"/>
                </a:solidFill>
                <a:latin typeface="Calibri"/>
              </a:rPr>
              <a:t> for all LLM releases from January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384048" cy="50292"/>
          </a:xfrm>
          <a:prstGeom prst="rect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1002975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7202B"/>
                </a:solidFill>
                <a:latin typeface="Calibri"/>
              </a:rPr>
              <a:t>Roll-out plan: gating mandatory for every channel by end of 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08857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E6B7A"/>
                </a:solidFill>
                <a:latin typeface="Calibri"/>
              </a:rPr>
              <a:t>Illustrative example · Internal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8293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5E6B7A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592324"/>
            <a:ext cx="11002975" cy="27432"/>
          </a:xfrm>
          <a:prstGeom prst="rect">
            <a:avLst/>
          </a:prstGeom>
          <a:solidFill>
            <a:srgbClr val="DDE2E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58952" y="2478024"/>
            <a:ext cx="256032" cy="256032"/>
          </a:xfrm>
          <a:prstGeom prst="ellipse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58952" y="1920240"/>
            <a:ext cx="242155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E0663A"/>
                </a:solidFill>
                <a:latin typeface="Calibri"/>
              </a:rPr>
              <a:t>NOV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017520"/>
            <a:ext cx="2421559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202B"/>
                </a:solidFill>
                <a:latin typeface="Calibri"/>
              </a:rPr>
              <a:t>Billing retrieval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474720"/>
            <a:ext cx="2421559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E6B7A"/>
                </a:solidFill>
                <a:latin typeface="Calibri"/>
              </a:rPr>
              <a:t>Corpus refresh and citation prompting in production</a:t>
            </a:r>
          </a:p>
        </p:txBody>
      </p:sp>
      <p:sp>
        <p:nvSpPr>
          <p:cNvPr id="11" name="Oval 10"/>
          <p:cNvSpPr/>
          <p:nvPr/>
        </p:nvSpPr>
        <p:spPr>
          <a:xfrm>
            <a:off x="3509695" y="2478024"/>
            <a:ext cx="256032" cy="256032"/>
          </a:xfrm>
          <a:prstGeom prst="ellipse">
            <a:avLst/>
          </a:prstGeom>
          <a:solidFill>
            <a:srgbClr val="1529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09695" y="1920240"/>
            <a:ext cx="242155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5E6B7A"/>
                </a:solidFill>
                <a:latin typeface="Calibri"/>
              </a:rPr>
              <a:t>DEC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9695" y="3017520"/>
            <a:ext cx="2421559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202B"/>
                </a:solidFill>
                <a:latin typeface="Calibri"/>
              </a:rPr>
              <a:t>Per-channel calibration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9695" y="3794760"/>
            <a:ext cx="2421559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E6B7A"/>
                </a:solidFill>
                <a:latin typeface="Calibri"/>
              </a:rPr>
              <a:t>Thresholds agreed with channel owners</a:t>
            </a:r>
          </a:p>
        </p:txBody>
      </p:sp>
      <p:sp>
        <p:nvSpPr>
          <p:cNvPr id="15" name="Oval 14"/>
          <p:cNvSpPr/>
          <p:nvPr/>
        </p:nvSpPr>
        <p:spPr>
          <a:xfrm>
            <a:off x="6260439" y="2478024"/>
            <a:ext cx="256032" cy="256032"/>
          </a:xfrm>
          <a:prstGeom prst="ellipse">
            <a:avLst/>
          </a:prstGeom>
          <a:solidFill>
            <a:srgbClr val="1529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60439" y="1920240"/>
            <a:ext cx="242155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5E6B7A"/>
                </a:solidFill>
                <a:latin typeface="Calibri"/>
              </a:rPr>
              <a:t>JAN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0439" y="3017520"/>
            <a:ext cx="2421559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202B"/>
                </a:solidFill>
                <a:latin typeface="Calibri"/>
              </a:rPr>
              <a:t>Gating mandatory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0439" y="3474720"/>
            <a:ext cx="2421559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E6B7A"/>
                </a:solidFill>
                <a:latin typeface="Calibri"/>
              </a:rPr>
              <a:t>All LLM releases pass replay evaluation</a:t>
            </a:r>
          </a:p>
        </p:txBody>
      </p:sp>
      <p:sp>
        <p:nvSpPr>
          <p:cNvPr id="19" name="Oval 18"/>
          <p:cNvSpPr/>
          <p:nvPr/>
        </p:nvSpPr>
        <p:spPr>
          <a:xfrm>
            <a:off x="9011183" y="2478024"/>
            <a:ext cx="256032" cy="256032"/>
          </a:xfrm>
          <a:prstGeom prst="ellipse">
            <a:avLst/>
          </a:prstGeom>
          <a:solidFill>
            <a:srgbClr val="15294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11183" y="1920240"/>
            <a:ext cx="242155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5E6B7A"/>
                </a:solidFill>
                <a:latin typeface="Calibri"/>
              </a:rPr>
              <a:t>MAR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1183" y="3017520"/>
            <a:ext cx="2421559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7202B"/>
                </a:solidFill>
                <a:latin typeface="Calibri"/>
              </a:rPr>
              <a:t>Full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1183" y="3474720"/>
            <a:ext cx="2421559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E6B7A"/>
                </a:solidFill>
                <a:latin typeface="Calibri"/>
              </a:rPr>
              <a:t>Remaining 14% of traffic onboarded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25880" y="82296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80000"/>
              </a:lnSpc>
            </a:pPr>
            <a:r>
              <a:rPr sz="15000" b="1" i="0">
                <a:solidFill>
                  <a:srgbClr val="E0663A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103120"/>
            <a:ext cx="9357055" cy="3017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7202B"/>
                </a:solidFill>
                <a:latin typeface="Calibri"/>
              </a:rPr>
              <a:t>For the first time we found out about a quality problem before our customers did.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3474720"/>
            <a:ext cx="548640" cy="36576"/>
          </a:xfrm>
          <a:prstGeom prst="rect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417320" y="3657600"/>
            <a:ext cx="9357055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5E6B7A"/>
                </a:solidFill>
                <a:latin typeface="Calibri"/>
              </a:rPr>
              <a:t>Channel owner, Device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9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143000"/>
            <a:ext cx="822960" cy="54864"/>
          </a:xfrm>
          <a:prstGeom prst="rect">
            <a:avLst/>
          </a:prstGeom>
          <a:solidFill>
            <a:srgbClr val="E0663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8655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Decisions requested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53640"/>
            <a:ext cx="8582924" cy="33070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310896" indent="-274320">
              <a:lnSpc>
                <a:spcPct val="110000"/>
              </a:lnSpc>
              <a:buClr>
                <a:srgbClr val="E0663A"/>
              </a:buClr>
              <a:buSzPct val="100000"/>
              <a:buFont typeface="Calibri"/>
              <a:buAutoNum type="arabicPeriod"/>
            </a:pPr>
            <a:r>
              <a:rPr sz="2000" b="0" i="0">
                <a:solidFill>
                  <a:srgbClr val="FFFFFF"/>
                </a:solidFill>
                <a:latin typeface="Calibri"/>
              </a:rPr>
              <a:t>Approve two engineers for Q1 calibration and retrieval work</a:t>
            </a:r>
          </a:p>
          <a:p>
            <a:pPr algn="l" marL="310896" indent="-274320">
              <a:lnSpc>
                <a:spcPct val="110000"/>
              </a:lnSpc>
              <a:spcBef>
                <a:spcPts val="1200"/>
              </a:spcBef>
              <a:buClr>
                <a:srgbClr val="E0663A"/>
              </a:buClr>
              <a:buSzPct val="100000"/>
              <a:buFont typeface="Calibri"/>
              <a:buAutoNum type="arabicPeriod"/>
            </a:pPr>
            <a:r>
              <a:rPr sz="2000" b="0" i="0">
                <a:solidFill>
                  <a:srgbClr val="FFFFFF"/>
                </a:solidFill>
                <a:latin typeface="Calibri"/>
              </a:rPr>
              <a:t>Endorse mandatory release gating from January</a:t>
            </a:r>
          </a:p>
          <a:p>
            <a:pPr algn="l" marL="310896" indent="-274320">
              <a:lnSpc>
                <a:spcPct val="110000"/>
              </a:lnSpc>
              <a:spcBef>
                <a:spcPts val="1200"/>
              </a:spcBef>
              <a:buClr>
                <a:srgbClr val="E0663A"/>
              </a:buClr>
              <a:buSzPct val="100000"/>
              <a:buFont typeface="Calibri"/>
              <a:buAutoNum type="arabicPeriod"/>
            </a:pPr>
            <a:r>
              <a:rPr sz="2000" b="0" i="0">
                <a:solidFill>
                  <a:srgbClr val="FFFFFF"/>
                </a:solidFill>
                <a:latin typeface="Calibri"/>
              </a:rPr>
              <a:t>Nominate one owner per channel for rubric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8932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0663A"/>
                </a:solidFill>
                <a:latin typeface="Calibri"/>
              </a:rPr>
              <a:t>AI Engineering · ai-eng@example.com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Scaling LLM Evaluation Across Customer Channels</dc:title>
  <dc:subject/>
  <dc:creator>AI Engineering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